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9EDA5-71A3-4AE3-A187-D5D5469080B0}" v="5" dt="2026-07-08T13:40:27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Prajapati" userId="9d3496d9513ca7ca" providerId="LiveId" clId="{263748A5-304E-4BA8-AC76-B549CFE758F4}"/>
    <pc:docChg chg="undo custSel modSld">
      <pc:chgData name="Sumit Prajapati" userId="9d3496d9513ca7ca" providerId="LiveId" clId="{263748A5-304E-4BA8-AC76-B549CFE758F4}" dt="2026-07-08T14:18:14.781" v="95" actId="207"/>
      <pc:docMkLst>
        <pc:docMk/>
      </pc:docMkLst>
      <pc:sldChg chg="addSp delSp modSp mod">
        <pc:chgData name="Sumit Prajapati" userId="9d3496d9513ca7ca" providerId="LiveId" clId="{263748A5-304E-4BA8-AC76-B549CFE758F4}" dt="2026-07-08T13:42:17.177" v="88" actId="14100"/>
        <pc:sldMkLst>
          <pc:docMk/>
          <pc:sldMk cId="0" sldId="258"/>
        </pc:sldMkLst>
        <pc:spChg chg="mod">
          <ac:chgData name="Sumit Prajapati" userId="9d3496d9513ca7ca" providerId="LiveId" clId="{263748A5-304E-4BA8-AC76-B549CFE758F4}" dt="2026-07-08T13:41:54.665" v="82" actId="14100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4" creationId="{00000000-0000-0000-0000-000000000000}"/>
          </ac:spMkLst>
        </pc:spChg>
        <pc:spChg chg="add del mod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6" creationId="{00000000-0000-0000-0000-000000000000}"/>
          </ac:spMkLst>
        </pc:spChg>
        <pc:spChg chg="mod">
          <ac:chgData name="Sumit Prajapati" userId="9d3496d9513ca7ca" providerId="LiveId" clId="{263748A5-304E-4BA8-AC76-B549CFE758F4}" dt="2026-07-08T13:41:30.729" v="78" actId="1076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8" creationId="{00000000-0000-0000-0000-000000000000}"/>
          </ac:spMkLst>
        </pc:spChg>
        <pc:spChg chg="del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9" creationId="{00000000-0000-0000-0000-000000000000}"/>
          </ac:spMkLst>
        </pc:spChg>
        <pc:spChg chg="del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13" creationId="{00000000-0000-0000-0000-000000000000}"/>
          </ac:spMkLst>
        </pc:spChg>
        <pc:spChg chg="del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Sumit Prajapati" userId="9d3496d9513ca7ca" providerId="LiveId" clId="{263748A5-304E-4BA8-AC76-B549CFE758F4}" dt="2026-07-08T13:41:01.439" v="72" actId="21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16" creationId="{00000000-0000-0000-0000-000000000000}"/>
          </ac:spMkLst>
        </pc:spChg>
        <pc:spChg chg="del">
          <ac:chgData name="Sumit Prajapati" userId="9d3496d9513ca7ca" providerId="LiveId" clId="{263748A5-304E-4BA8-AC76-B549CFE758F4}" dt="2026-07-08T13:41:08.117" v="73" actId="21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mit Prajapati" userId="9d3496d9513ca7ca" providerId="LiveId" clId="{263748A5-304E-4BA8-AC76-B549CFE758F4}" dt="2026-07-08T13:42:11.704" v="86" actId="14100"/>
          <ac:spMkLst>
            <pc:docMk/>
            <pc:sldMk cId="0" sldId="258"/>
            <ac:spMk id="18" creationId="{00000000-0000-0000-0000-000000000000}"/>
          </ac:spMkLst>
        </pc:spChg>
        <pc:spChg chg="add del">
          <ac:chgData name="Sumit Prajapati" userId="9d3496d9513ca7ca" providerId="LiveId" clId="{263748A5-304E-4BA8-AC76-B549CFE758F4}" dt="2026-07-08T13:40:28.718" v="64" actId="22"/>
          <ac:spMkLst>
            <pc:docMk/>
            <pc:sldMk cId="0" sldId="258"/>
            <ac:spMk id="21" creationId="{CEA836DB-1293-CD21-5CE0-7DC7BD151ED7}"/>
          </ac:spMkLst>
        </pc:spChg>
        <pc:spChg chg="add mod">
          <ac:chgData name="Sumit Prajapati" userId="9d3496d9513ca7ca" providerId="LiveId" clId="{263748A5-304E-4BA8-AC76-B549CFE758F4}" dt="2026-07-08T13:40:27.634" v="61" actId="767"/>
          <ac:spMkLst>
            <pc:docMk/>
            <pc:sldMk cId="0" sldId="258"/>
            <ac:spMk id="22" creationId="{AF56920D-17C0-84B8-32CE-8A86E6DDE96F}"/>
          </ac:spMkLst>
        </pc:spChg>
        <pc:graphicFrameChg chg="mod modGraphic">
          <ac:chgData name="Sumit Prajapati" userId="9d3496d9513ca7ca" providerId="LiveId" clId="{263748A5-304E-4BA8-AC76-B549CFE758F4}" dt="2026-07-08T13:42:17.177" v="88" actId="14100"/>
          <ac:graphicFrameMkLst>
            <pc:docMk/>
            <pc:sldMk cId="0" sldId="258"/>
            <ac:graphicFrameMk id="19" creationId="{00000000-0000-0000-0000-000000000000}"/>
          </ac:graphicFrameMkLst>
        </pc:graphicFrameChg>
      </pc:sldChg>
      <pc:sldChg chg="modSp mod">
        <pc:chgData name="Sumit Prajapati" userId="9d3496d9513ca7ca" providerId="LiveId" clId="{263748A5-304E-4BA8-AC76-B549CFE758F4}" dt="2026-07-08T14:17:53.827" v="90" actId="6549"/>
        <pc:sldMkLst>
          <pc:docMk/>
          <pc:sldMk cId="0" sldId="260"/>
        </pc:sldMkLst>
        <pc:spChg chg="mod">
          <ac:chgData name="Sumit Prajapati" userId="9d3496d9513ca7ca" providerId="LiveId" clId="{263748A5-304E-4BA8-AC76-B549CFE758F4}" dt="2026-07-08T14:17:53.827" v="90" actId="6549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Sumit Prajapati" userId="9d3496d9513ca7ca" providerId="LiveId" clId="{263748A5-304E-4BA8-AC76-B549CFE758F4}" dt="2026-07-08T14:18:14.781" v="95" actId="207"/>
        <pc:sldMkLst>
          <pc:docMk/>
          <pc:sldMk cId="0" sldId="263"/>
        </pc:sldMkLst>
        <pc:spChg chg="mod">
          <ac:chgData name="Sumit Prajapati" userId="9d3496d9513ca7ca" providerId="LiveId" clId="{263748A5-304E-4BA8-AC76-B549CFE758F4}" dt="2026-07-08T14:18:14.781" v="95" actId="207"/>
          <ac:spMkLst>
            <pc:docMk/>
            <pc:sldMk cId="0" sldId="26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61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Financial Analysis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F2FE"/>
                </a:solidFill>
              </a:rPr>
              <a:t>Comprehensive Project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1FAE5"/>
                </a:solidFill>
              </a:rPr>
              <a:t>Annuity • EMI • Investment Analysis • IRR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</a:rPr>
              <a:t>Annuity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End of Year Payments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Price: $32,000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Interest Rate: 13%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Payments: 8 years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Payment Amount: $6,000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
Present Value:
</a:t>
            </a:r>
            <a:endParaRPr lang="en-US" sz="11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</a:rPr>
              <a:t>$28,792.62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Beginning of Year Payments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6916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Price: $32,000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Interest Rate: 13%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Payments: 8 years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Payment Amount: $6,000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
Present Value:
</a:t>
            </a:r>
            <a:endParaRPr lang="en-US" sz="11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</a:rPr>
              <a:t>$32,535.66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7065"/>
            <a:ext cx="7881257" cy="524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</a:rPr>
              <a:t>EMI Analysis - Loan Amortization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45166" y="1303020"/>
            <a:ext cx="1343139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199" y="731521"/>
            <a:ext cx="2873829" cy="524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8-Month Amortization Schedule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222577"/>
              </p:ext>
            </p:extLst>
          </p:nvPr>
        </p:nvGraphicFramePr>
        <p:xfrm>
          <a:off x="609600" y="1370275"/>
          <a:ext cx="6887030" cy="3297807"/>
        </p:xfrm>
        <a:graphic>
          <a:graphicData uri="http://schemas.openxmlformats.org/drawingml/2006/table">
            <a:tbl>
              <a:tblPr/>
              <a:tblGrid>
                <a:gridCol w="91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7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7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Beginning Balance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Interest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Principal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$1,300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$11,942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$88,058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$1,145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$12,098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$75,960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$987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$12,255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$63,705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$828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$12,414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$51,291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$667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$12,575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$38,716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$12,739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$25,977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$338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$12,905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7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$13,072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$13,242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$170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$13,072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</a:rPr>
              <a:t>Loan Types Comparison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65760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EMI Loan (15 months)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Interest Rate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10.1%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EMI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-$12,000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Tenure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15 months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65760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Term Loan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Interest Rate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10%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EMI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-$15,000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Tenure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11.53 months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</a:rPr>
              <a:t>Investment Decision - NPV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Comparing Two Investment Options (Interest Rate: 20%)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6576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Period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Investment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Investment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-$10,000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-$5,000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$25,000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$20,000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-$7,000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-$8,000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Total Cash Flow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$8,000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$7,000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NPV (End Year)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4754880" y="1627632"/>
            <a:ext cx="1874520" cy="457200"/>
          </a:xfrm>
          <a:prstGeom prst="roundRect">
            <a:avLst/>
          </a:prstGeom>
          <a:solidFill>
            <a:srgbClr val="DF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846320" y="1719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$4,976.85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20840" y="1627632"/>
            <a:ext cx="1874520" cy="457200"/>
          </a:xfrm>
          <a:prstGeom prst="roundRect">
            <a:avLst/>
          </a:prstGeom>
          <a:solidFill>
            <a:srgbClr val="DF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12280" y="1719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$5,092.59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NPV (Beginning Year)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633472"/>
            <a:ext cx="1874520" cy="457200"/>
          </a:xfrm>
          <a:prstGeom prst="roundRect">
            <a:avLst/>
          </a:prstGeom>
          <a:solidFill>
            <a:srgbClr val="DF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46320" y="2724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$5,972.22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20840" y="2633472"/>
            <a:ext cx="1874520" cy="457200"/>
          </a:xfrm>
          <a:prstGeom prst="roundRect">
            <a:avLst/>
          </a:prstGeom>
          <a:solidFill>
            <a:srgbClr val="DF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812280" y="2724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$6,111.11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NPV (Middle Year)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639312"/>
            <a:ext cx="1874520" cy="457200"/>
          </a:xfrm>
          <a:prstGeom prst="roundRect">
            <a:avLst/>
          </a:prstGeom>
          <a:solidFill>
            <a:srgbClr val="DF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846320" y="3730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$5,451.87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3639312"/>
            <a:ext cx="1874520" cy="457200"/>
          </a:xfrm>
          <a:prstGeom prst="roundRect">
            <a:avLst/>
          </a:prstGeom>
          <a:solidFill>
            <a:srgbClr val="DFF2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12280" y="3730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$5,578.66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EF3C7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40AF"/>
                </a:solidFill>
              </a:rPr>
              <a:t>Recommendation: Investment 2 shows slightly higher NPV across all timing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</a:rPr>
              <a:t>Internal Rate of Return (IRR)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IRR represents the discount rate at which NPV equals zero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Scenario 1: Standard Cash 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2918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1: $10,000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2: -$5,000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3: -$8,500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4: $2,000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IRR: </a:t>
            </a:r>
            <a:endParaRPr lang="en-US" sz="1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10.53%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Scenario 2: Alternative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874520"/>
            <a:ext cx="32918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1: -$20,000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2: $82,000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3: -$60,000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Year 4: $2,000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IRR: </a:t>
            </a:r>
            <a:endParaRPr lang="en-US" sz="1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-9.59%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</a:rPr>
              <a:t>Key Findings &amp;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Annuity Analysis: Beginning-of-year payments yield higher present value ($32,535.66 vs $28,792.62)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Loan Comparison: 8-month EMI loan of $13,242.27 is more manageable than longer-term alternatives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Investment Recommendation: Investment 2 demonstrates superior NPV performance across all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IRR Insights: Standard cash flows show positive IRR (10.53%), indicating value creation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Risk Consideration: Negative IRR in alternative scenarios highlights importance of cash flow timing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301752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Financial Viability Confirmed
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
</a:t>
            </a:r>
          </a:p>
          <a:p>
            <a:pPr marL="0" indent="0">
              <a:buNone/>
            </a:pPr>
            <a:r>
              <a:rPr lang="en-US" sz="1200" dirty="0"/>
              <a:t>All analyzed scenarios demonstrate positive returns and manageable payment structures. The comparative analysis of annuities, loans, and investment options provides a comprehensive framework for financial decision-making.
</a:t>
            </a:r>
          </a:p>
          <a:p>
            <a:pPr marL="0" indent="0">
              <a:buNone/>
            </a:pPr>
            <a:r>
              <a:rPr lang="en-US" sz="1200" b="1" dirty="0"/>
              <a:t>Next Steps: </a:t>
            </a:r>
            <a:r>
              <a:rPr lang="en-US" sz="1200" dirty="0"/>
              <a:t>Implement selected investment strategy and monitor cash flows quarterly.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519</Words>
  <Application>Microsoft Office PowerPoint</Application>
  <PresentationFormat>On-screen Show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Analysis Project</dc:title>
  <dc:subject>PptxGenJS Presentation</dc:subject>
  <dc:creator>Financial Analysis</dc:creator>
  <cp:lastModifiedBy>Sumit Prajapati</cp:lastModifiedBy>
  <cp:revision>1</cp:revision>
  <dcterms:created xsi:type="dcterms:W3CDTF">2026-07-08T11:52:32Z</dcterms:created>
  <dcterms:modified xsi:type="dcterms:W3CDTF">2026-07-08T14:18:14Z</dcterms:modified>
</cp:coreProperties>
</file>