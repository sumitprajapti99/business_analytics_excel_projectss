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78D0C0-BB9F-48F2-934B-243CB28E0D50}" v="3" dt="2026-07-02T06:53:26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Prajapati" userId="9d3496d9513ca7ca" providerId="LiveId" clId="{263748A5-304E-4BA8-AC76-B549CFE758F4}"/>
    <pc:docChg chg="undo custSel modSld">
      <pc:chgData name="Sumit Prajapati" userId="9d3496d9513ca7ca" providerId="LiveId" clId="{263748A5-304E-4BA8-AC76-B549CFE758F4}" dt="2026-07-02T06:55:31.364" v="10" actId="113"/>
      <pc:docMkLst>
        <pc:docMk/>
      </pc:docMkLst>
      <pc:sldChg chg="addSp delSp modSp mod">
        <pc:chgData name="Sumit Prajapati" userId="9d3496d9513ca7ca" providerId="LiveId" clId="{263748A5-304E-4BA8-AC76-B549CFE758F4}" dt="2026-07-02T06:51:46.002" v="7" actId="1076"/>
        <pc:sldMkLst>
          <pc:docMk/>
          <pc:sldMk cId="0" sldId="260"/>
        </pc:sldMkLst>
        <pc:spChg chg="mod">
          <ac:chgData name="Sumit Prajapati" userId="9d3496d9513ca7ca" providerId="LiveId" clId="{263748A5-304E-4BA8-AC76-B549CFE758F4}" dt="2026-07-02T06:51:32.867" v="4" actId="1076"/>
          <ac:spMkLst>
            <pc:docMk/>
            <pc:sldMk cId="0" sldId="260"/>
            <ac:spMk id="8" creationId="{00000000-0000-0000-0000-000000000000}"/>
          </ac:spMkLst>
        </pc:spChg>
        <pc:spChg chg="add del mod">
          <ac:chgData name="Sumit Prajapati" userId="9d3496d9513ca7ca" providerId="LiveId" clId="{263748A5-304E-4BA8-AC76-B549CFE758F4}" dt="2026-07-02T06:51:46.002" v="7" actId="1076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Sumit Prajapati" userId="9d3496d9513ca7ca" providerId="LiveId" clId="{263748A5-304E-4BA8-AC76-B549CFE758F4}" dt="2026-07-02T06:53:26.124" v="9" actId="27918"/>
        <pc:sldMkLst>
          <pc:docMk/>
          <pc:sldMk cId="0" sldId="264"/>
        </pc:sldMkLst>
        <pc:graphicFrameChg chg="mod">
          <ac:chgData name="Sumit Prajapati" userId="9d3496d9513ca7ca" providerId="LiveId" clId="{263748A5-304E-4BA8-AC76-B549CFE758F4}" dt="2026-07-02T06:53:22.135" v="8" actId="11530"/>
          <ac:graphicFrameMkLst>
            <pc:docMk/>
            <pc:sldMk cId="0" sldId="264"/>
            <ac:graphicFrameMk id="6" creationId="{00000000-0000-0000-0000-000000000000}"/>
          </ac:graphicFrameMkLst>
        </pc:graphicFrameChg>
      </pc:sldChg>
      <pc:sldChg chg="modSp mod">
        <pc:chgData name="Sumit Prajapati" userId="9d3496d9513ca7ca" providerId="LiveId" clId="{263748A5-304E-4BA8-AC76-B549CFE758F4}" dt="2026-07-02T06:55:31.364" v="10" actId="113"/>
        <pc:sldMkLst>
          <pc:docMk/>
          <pc:sldMk cId="0" sldId="265"/>
        </pc:sldMkLst>
        <pc:spChg chg="mod">
          <ac:chgData name="Sumit Prajapati" userId="9d3496d9513ca7ca" providerId="LiveId" clId="{263748A5-304E-4BA8-AC76-B549CFE758F4}" dt="2026-07-02T06:55:31.364" v="10" actId="113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East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76.739999999999995</c:v>
                </c:pt>
                <c:pt idx="1">
                  <c:v>71.819999999999993</c:v>
                </c:pt>
                <c:pt idx="2">
                  <c:v>71.569999999999993</c:v>
                </c:pt>
                <c:pt idx="3">
                  <c:v>66.61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4-4FEA-90F3-417C813685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98-4999-9E5D-080876945630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98-4999-9E5D-080876945630}"/>
              </c:ext>
            </c:extLst>
          </c:dPt>
          <c:dPt>
            <c:idx val="2"/>
            <c:bubble3D val="0"/>
            <c:spPr>
              <a:solidFill>
                <a:srgbClr val="8FBF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98-4999-9E5D-080876945630}"/>
              </c:ext>
            </c:extLst>
          </c:dPt>
          <c:dPt>
            <c:idx val="3"/>
            <c:bubble3D val="0"/>
            <c:spPr>
              <a:solidFill>
                <a:srgbClr val="C7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98-4999-9E5D-08087694563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98-4999-9E5D-08087694563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98-4999-9E5D-08087694563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98-4999-9E5D-08087694563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998-4999-9E5D-08087694563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0.40639999999999998</c:v>
                </c:pt>
                <c:pt idx="1">
                  <c:v>0.2021</c:v>
                </c:pt>
                <c:pt idx="2">
                  <c:v>0.19570000000000001</c:v>
                </c:pt>
                <c:pt idx="3">
                  <c:v>0.19570000000000001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98-4999-9E5D-080876945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Evaluation Score</c:v>
                </c:pt>
              </c:strCache>
            </c:strRef>
          </c:tx>
          <c:spPr>
            <a:solidFill>
              <a:srgbClr val="065A8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East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76.739999999999995</c:v>
                </c:pt>
                <c:pt idx="1">
                  <c:v>71.819999999999993</c:v>
                </c:pt>
                <c:pt idx="2">
                  <c:v>71.569999999999993</c:v>
                </c:pt>
                <c:pt idx="3">
                  <c:v>66.61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7-45D2-B109-C6F365DF00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A6-4F26-B3FA-2751F48ECA50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A6-4F26-B3FA-2751F48ECA50}"/>
              </c:ext>
            </c:extLst>
          </c:dPt>
          <c:dPt>
            <c:idx val="2"/>
            <c:bubble3D val="0"/>
            <c:spPr>
              <a:solidFill>
                <a:srgbClr val="8FBF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A6-4F26-B3FA-2751F48ECA50}"/>
              </c:ext>
            </c:extLst>
          </c:dPt>
          <c:dPt>
            <c:idx val="3"/>
            <c:bubble3D val="0"/>
            <c:spPr>
              <a:solidFill>
                <a:srgbClr val="C7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A6-4F26-B3FA-2751F48ECA5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A6-4F26-B3FA-2751F48ECA5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A6-4F26-B3FA-2751F48ECA5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A6-4F26-B3FA-2751F48ECA5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A6-4F26-B3FA-2751F48ECA5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0.40639999999999998</c:v>
                </c:pt>
                <c:pt idx="1">
                  <c:v>0.2021</c:v>
                </c:pt>
                <c:pt idx="2">
                  <c:v>0.19570000000000001</c:v>
                </c:pt>
                <c:pt idx="3">
                  <c:v>0.19570000000000001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A6-4F26-B3FA-2751F48EC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Score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Sheet1!$A$2:$A$23</c:f>
              <c:strCache>
                <c:ptCount val="22"/>
                <c:pt idx="0">
                  <c:v>10/1</c:v>
                </c:pt>
                <c:pt idx="1">
                  <c:v>10/6</c:v>
                </c:pt>
                <c:pt idx="2">
                  <c:v>10/7</c:v>
                </c:pt>
                <c:pt idx="3">
                  <c:v>10/8</c:v>
                </c:pt>
                <c:pt idx="4">
                  <c:v>10/10</c:v>
                </c:pt>
                <c:pt idx="5">
                  <c:v>10/11</c:v>
                </c:pt>
                <c:pt idx="6">
                  <c:v>10/12</c:v>
                </c:pt>
                <c:pt idx="7">
                  <c:v>10/13</c:v>
                </c:pt>
                <c:pt idx="8">
                  <c:v>10/14</c:v>
                </c:pt>
                <c:pt idx="9">
                  <c:v>10/15</c:v>
                </c:pt>
                <c:pt idx="10">
                  <c:v>10/16</c:v>
                </c:pt>
                <c:pt idx="11">
                  <c:v>10/17</c:v>
                </c:pt>
                <c:pt idx="12">
                  <c:v>10/18</c:v>
                </c:pt>
                <c:pt idx="13">
                  <c:v>10/19</c:v>
                </c:pt>
                <c:pt idx="14">
                  <c:v>10/20</c:v>
                </c:pt>
                <c:pt idx="15">
                  <c:v>10/21</c:v>
                </c:pt>
                <c:pt idx="16">
                  <c:v>10/22</c:v>
                </c:pt>
                <c:pt idx="17">
                  <c:v>10/23</c:v>
                </c:pt>
                <c:pt idx="18">
                  <c:v>10/27</c:v>
                </c:pt>
                <c:pt idx="19">
                  <c:v>10/28</c:v>
                </c:pt>
                <c:pt idx="20">
                  <c:v>10/29</c:v>
                </c:pt>
                <c:pt idx="21">
                  <c:v>10/30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58</c:v>
                </c:pt>
                <c:pt idx="1">
                  <c:v>68.5</c:v>
                </c:pt>
                <c:pt idx="2">
                  <c:v>85.67</c:v>
                </c:pt>
                <c:pt idx="3">
                  <c:v>72.33</c:v>
                </c:pt>
                <c:pt idx="4">
                  <c:v>78</c:v>
                </c:pt>
                <c:pt idx="5">
                  <c:v>73</c:v>
                </c:pt>
                <c:pt idx="6">
                  <c:v>83.33</c:v>
                </c:pt>
                <c:pt idx="7">
                  <c:v>63.5</c:v>
                </c:pt>
                <c:pt idx="8">
                  <c:v>72</c:v>
                </c:pt>
                <c:pt idx="9">
                  <c:v>66</c:v>
                </c:pt>
                <c:pt idx="10">
                  <c:v>69</c:v>
                </c:pt>
                <c:pt idx="11">
                  <c:v>86</c:v>
                </c:pt>
                <c:pt idx="12">
                  <c:v>69.33</c:v>
                </c:pt>
                <c:pt idx="13">
                  <c:v>52</c:v>
                </c:pt>
                <c:pt idx="14">
                  <c:v>90.67</c:v>
                </c:pt>
                <c:pt idx="15">
                  <c:v>71</c:v>
                </c:pt>
                <c:pt idx="16">
                  <c:v>69</c:v>
                </c:pt>
                <c:pt idx="17">
                  <c:v>53</c:v>
                </c:pt>
                <c:pt idx="18">
                  <c:v>94</c:v>
                </c:pt>
                <c:pt idx="19">
                  <c:v>74.5</c:v>
                </c:pt>
                <c:pt idx="20">
                  <c:v>65</c:v>
                </c:pt>
                <c:pt idx="21">
                  <c:v>48.33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0E-4D66-A15F-28F40750F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Performer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190</c:v>
                </c:pt>
                <c:pt idx="1">
                  <c:v>382</c:v>
                </c:pt>
                <c:pt idx="2">
                  <c:v>184</c:v>
                </c:pt>
                <c:pt idx="3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C-4B71-9236-47A64731AB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Performer</c:v>
                </c:pt>
              </c:strCache>
            </c:strRef>
          </c:tx>
          <c:spPr>
            <a:solidFill>
              <a:srgbClr val="C7DCE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187</c:v>
                </c:pt>
                <c:pt idx="1">
                  <c:v>323</c:v>
                </c:pt>
                <c:pt idx="2">
                  <c:v>359</c:v>
                </c:pt>
                <c:pt idx="3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6C-4B71-9236-47A64731AB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59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338328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46634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E3B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9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CX PROGRAM  •  OCTOBER 2022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of Style Advisor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Analysis and Insights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mystery-shopper evaluations   |   58 style advisors   |   4 zones nationwide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Objectives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 Hut ran an independent mystery-shopper audit of its style advisors across October 2022. Trained auditors visited stores nationwide and scored each visit against a standard rubric covering store environment, greeting, needs discovery, product knowledge, and sales closure.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dataset of 61 evaluations covering 58 named style advisors in 22 cities across the East, North, South, and West zones — scored, graded, and rolled up into the pivot views used throughout this deck.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623560" cy="4800600"/>
          </a:xfrm>
          <a:prstGeom prst="roundRect">
            <a:avLst>
              <a:gd name="adj" fmla="val 152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465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21488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4652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03720" y="209397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style advisor on a consistent A-D performance scale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46520" y="281635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4652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03720" y="27614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evaluation scores across the four sales zones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46520" y="3483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4652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34290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regions produce the highest share of top performers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46520" y="415137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4652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03720" y="409651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performance down by individual evaluation criteria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46520" y="48188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46520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476402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scores moved over the course of the audit period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46520" y="54864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4652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03720" y="543153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concrete coaching and staffing recommendations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is a single mystery-shop visit, captured in the raw response sheet (61 rows x 84 columns) and rolled up into grading and pivot sheets used for reporting.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3232" y="2240280"/>
            <a:ext cx="512064" cy="512064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23734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 &amp; Location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3493008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Evaluation_ID, Evaluation_Date, Location_City/State, Zone (East / North / South / West), Country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19272" y="196596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575304" y="2240280"/>
            <a:ext cx="512064" cy="512064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41" y="237341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7872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47872" y="3493008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Evaluation_Score (overall) plus 8 criteria sub-scores: Store Ambiance, First Impressions, Discovery, Recommendations, Trial Experience &amp; Upsell, Objection Handling, Closure &amp; Care, Overall Experience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81344" y="196596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437376" y="2240280"/>
            <a:ext cx="512064" cy="512064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13" y="2373417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9944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Details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9944" y="3493008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entry/exit, duration of visit, advisors present, customers present, and the named Style Advisor who attended the shopper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043416" y="1965960"/>
            <a:ext cx="2697480" cy="4160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9299448" y="2240280"/>
            <a:ext cx="512064" cy="512064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585" y="2373417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72016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Responses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272016" y="3493008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structured Yes/No and free-text questions across Store Environment, Greeting &amp; First Impression, and Needs Discovery sections, plus auditor demographics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Grading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SCALE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5303520" cy="2514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 High Performer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90 - 100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- Average Performer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70 - 89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8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- Low Performer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50 - 69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1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- Bottom Performer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126480" y="1371600"/>
            <a:ext cx="56235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44652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GRADES WERE ASSIGNED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evaluation's overall score maps directly to a grade. A few worked examples from the dataset: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4652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Fariz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229600" y="2514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00684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High Performer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4652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0" y="2971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006840" y="2971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High Performer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Sanket Patel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29600" y="3429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006840" y="3429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Average Performer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446520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Yasin Kaif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886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00684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Low Performer*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46520" y="4343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Girish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229600" y="4343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9006840" y="4343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- Bottom Performer*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46520" y="49834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*Per-evaluation grading (used in the pivot views on the following slides). Advisors with multiple visits also get a smoothed average-based grade in the master roster.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Evaluation Score by Zone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754880" cy="31821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Evaluation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C1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5486400" y="1371600"/>
          <a:ext cx="62636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3"/>
          <p:cNvSpPr/>
          <p:nvPr/>
        </p:nvSpPr>
        <p:spPr>
          <a:xfrm>
            <a:off x="367204" y="4786242"/>
            <a:ext cx="11172524" cy="130887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4"/>
          <p:cNvSpPr/>
          <p:nvPr/>
        </p:nvSpPr>
        <p:spPr>
          <a:xfrm>
            <a:off x="7772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33766" y="4589191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leads all zones at 76.7 — a broad-based result driven by a strong base of B-grade advisors and very few bottom performers.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lags noticeably at 66.6, roughly 10 points behind North, with the heaviest mix of C and D grades in the dataset.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and West sit close together in the middle (71.6 and 71.8) — near the 71.8 company-wide average.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Performer Analysis by Region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6537960" y="1691640"/>
            <a:ext cx="566928" cy="566928"/>
          </a:xfrm>
          <a:prstGeom prst="ellipse">
            <a:avLst/>
          </a:prstGeom>
          <a:solidFill>
            <a:srgbClr val="2E3B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361" y="1839041"/>
            <a:ext cx="272125" cy="272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948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SHARE OF TOP TALENT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7269480" y="19659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 of all High Performer evaluations — more than double any other zone.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6263640" y="3566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658368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HIGH-PERFORMER EVALUATIONS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58368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13816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583680" y="4590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138160" y="4590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583680" y="50200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38160" y="5020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83680" y="5449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38160" y="5449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 1 /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Evaluation Scores by Zone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417320"/>
          <a:ext cx="105156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 2 /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of High Performers by Region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737360" y="1280160"/>
          <a:ext cx="58521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 3 /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Trends Over Time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471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 4 /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 by Evaluation Criteria &amp; Zone</a:t>
            </a:r>
            <a:endParaRPr lang="en-US" sz="2500" dirty="0"/>
          </a:p>
        </p:txBody>
      </p:sp>
      <p:pic>
        <p:nvPicPr>
          <p:cNvPr id="6" name="Image 1" descr="/home/claude/heat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417320"/>
            <a:ext cx="1083564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58064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per evaluation criterion, by zone. Closure &amp; Care and Recommendations are the weakest touchpoints company-wide, while Store Ambiance is consistently the strongest.</a:t>
            </a:r>
            <a:endParaRPr lang="en-US" sz="1200" b="1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 5 /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vs. Low Performers Comparison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3B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2A37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0391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leads (76.7 avg, 40.6% of High Performers). South lags (66.6 avg, heaviest C/D mix). East shows the widest spread of any zone — both strong top performers and weak bottom performers — pointing to inconsistent coaching rather than a uniformly weak market.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5352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2A37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519672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experience breaks down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19672" y="20391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aren't low because of store environment: Store Ambiance (88.8) and First Impressions (82.6) are consistently strong. The weak points cluster at the two ends of the human interaction — Closure &amp; Care (55.2) and Recommendations (60.1) are the lowest-scoring touchpoints by a wide margin.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2A37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4224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over time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1520" y="464515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 scores swing widely across the audit window, from a low of 48.3 (Oct 30) to a high of 94 (Oct 27), with no clear upward or downward trend — day-to-day variation looks more like inconsistent execution than a seasonal pattern.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0233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2A37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19672" y="4224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distribution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19672" y="464515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61 evaluations, 10 scored A, 27 scored B, 16 scored C, and 8 scored D. The bulk of advisors cluster in the Average band — meaningful upside exists in moving the 24-evaluation C/D tail toward B.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ED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03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85800" y="1581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85800" y="20756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the greeting protocol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highest-leverage, lowest-cost fix: train and audit the smile + eye-contact + verbal-greeting-within-15-seconds sequence company-wide.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70248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498848" y="1581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498848" y="20756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structured closing routine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98848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&amp; Care is the weakest touchpoint in every zone. A simple checklist — summarize needs, mention loyalty offers, thank and invite back — would lift this fast.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311896" y="1581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311896" y="20756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proactive recommendations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311896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advisors show product but don't actively recommend complementary items or alternatives. This is a revenue opportunity as much as a CX one.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391363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85800" y="40782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85800" y="4572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staffing during peak periods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85800" y="5193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visits correlate with lower scores, suggesting advisors are rushed when stores are busy. Check staffing ratios during high-footfall hours.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270248" y="391363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4498848" y="40782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4498848" y="4572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South, root-cause East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498848" y="5193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needs a broad coaching push given its consistently low scores; East's wide spread points to store-by-store inconsistency worth a targeted review.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083296" y="391363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8311896" y="40782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8311896" y="4572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bottom-performer cohort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8311896" y="5193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retraining effort on the 8 D-grade evaluations rather than spreading training thin across everyone — the score gap is largest there.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Advisor Performance Evaluation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1157</Words>
  <Application>Microsoft Office PowerPoint</Application>
  <PresentationFormat>Widescreen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Style Advisor Performance</dc:title>
  <dc:subject>PptxGenJS Presentation</dc:subject>
  <dc:creator>Style Advisor CX Program</dc:creator>
  <cp:lastModifiedBy>Sumit Prajapati</cp:lastModifiedBy>
  <cp:revision>1</cp:revision>
  <dcterms:created xsi:type="dcterms:W3CDTF">2026-07-02T06:45:26Z</dcterms:created>
  <dcterms:modified xsi:type="dcterms:W3CDTF">2026-07-02T06:55:40Z</dcterms:modified>
</cp:coreProperties>
</file>