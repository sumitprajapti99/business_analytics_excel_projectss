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Depreciation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102836</c:v>
                </c:pt>
                <c:pt idx="1">
                  <c:v>81685</c:v>
                </c:pt>
                <c:pt idx="2">
                  <c:v>64885</c:v>
                </c:pt>
                <c:pt idx="3">
                  <c:v>51540</c:v>
                </c:pt>
                <c:pt idx="4">
                  <c:v>40940</c:v>
                </c:pt>
                <c:pt idx="5">
                  <c:v>32519</c:v>
                </c:pt>
                <c:pt idx="6">
                  <c:v>25834</c:v>
                </c:pt>
                <c:pt idx="7">
                  <c:v>20520</c:v>
                </c:pt>
                <c:pt idx="8">
                  <c:v>16305</c:v>
                </c:pt>
                <c:pt idx="9">
                  <c:v>12946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35-41C4-B7C8-1D3F30B791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Depreciation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1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DB Method (Year 1)</c:v>
                </c:pt>
                <c:pt idx="1">
                  <c:v>SLM (Year 1)</c:v>
                </c:pt>
                <c:pt idx="2">
                  <c:v>SLM (Year 10)</c:v>
                </c:pt>
                <c:pt idx="3">
                  <c:v>DB Method (Year 10)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102836</c:v>
                </c:pt>
                <c:pt idx="1">
                  <c:v>45000</c:v>
                </c:pt>
                <c:pt idx="2">
                  <c:v>45000</c:v>
                </c:pt>
                <c:pt idx="3">
                  <c:v>12946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1C-4015-A4F4-DCAF31D8C0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1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Diminishing Balance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0" i="0" u="none" strike="noStrike" baseline="0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500000</c:v>
                </c:pt>
                <c:pt idx="1">
                  <c:v>397164</c:v>
                </c:pt>
                <c:pt idx="2">
                  <c:v>315479</c:v>
                </c:pt>
                <c:pt idx="3">
                  <c:v>250594</c:v>
                </c:pt>
                <c:pt idx="4">
                  <c:v>199054</c:v>
                </c:pt>
                <c:pt idx="5">
                  <c:v>158114</c:v>
                </c:pt>
                <c:pt idx="6">
                  <c:v>125562</c:v>
                </c:pt>
                <c:pt idx="7">
                  <c:v>99739</c:v>
                </c:pt>
                <c:pt idx="8">
                  <c:v>79219</c:v>
                </c:pt>
                <c:pt idx="9">
                  <c:v>62923</c:v>
                </c:pt>
                <c:pt idx="10">
                  <c:v>50000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67-455E-8DDD-8065E971CE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Straight Line</c:v>
                </c:pt>
              </c:strCache>
            </c:strRef>
          </c:tx>
          <c:spPr>
            <a:ln w="38100" cap="flat">
              <a:solidFill>
                <a:srgbClr val="3D6BE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D6BE0"/>
              </a:solidFill>
              <a:ln w="9525" cap="flat">
                <a:solidFill>
                  <a:srgbClr val="3D6BE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500000</c:v>
                </c:pt>
                <c:pt idx="1">
                  <c:v>455000</c:v>
                </c:pt>
                <c:pt idx="2">
                  <c:v>410000</c:v>
                </c:pt>
                <c:pt idx="3">
                  <c:v>365000</c:v>
                </c:pt>
                <c:pt idx="4">
                  <c:v>320000</c:v>
                </c:pt>
                <c:pt idx="5">
                  <c:v>275000</c:v>
                </c:pt>
                <c:pt idx="6">
                  <c:v>230000</c:v>
                </c:pt>
                <c:pt idx="7">
                  <c:v>185000</c:v>
                </c:pt>
                <c:pt idx="8">
                  <c:v>140000</c:v>
                </c:pt>
                <c:pt idx="9">
                  <c:v>95000</c:v>
                </c:pt>
                <c:pt idx="10">
                  <c:v>50000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67-455E-8DDD-8065E971CE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2720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report: a comparative study of straight line and diminishing balance depreciation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 introducing the asset used for this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asset price of $500,000 with a 10-year useful life anchors both depreciation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Introducing the Straight Line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Straight line depreciation produces a constant $45,000 annual expense.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Introducing the Diminishing Balance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diminishing balance rate of 20.57% front-loads depreciation expense.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amortization schedule for the diminishing balance method, selected years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comparing both methods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comparison shows the DB method charges 2.3x more depreciation in year one than SLM.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Book value trajectories converge by year 10; DB method shows lower book values earlier.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methods total the same depreciation; DB is more aggressive early; both reach the residual value precisely.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takeaway: DB offers tax deferral advantages despite identical lifetime totals.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slide,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5120640"/>
            <a:ext cx="3657600" cy="3657600"/>
          </a:xfrm>
          <a:prstGeom prst="ellipse">
            <a:avLst/>
          </a:prstGeom>
          <a:solidFill>
            <a:srgbClr val="2B35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182880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OPERATIONS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Depreciation Analysis Report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37033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Study: Straight Line &amp; Diminishing Balance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937760" y="448056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937760" y="4480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Coachx.live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5394960"/>
            <a:ext cx="3200400" cy="3200400"/>
          </a:xfrm>
          <a:prstGeom prst="ellipse">
            <a:avLst/>
          </a:prstGeom>
          <a:solidFill>
            <a:srgbClr val="E4E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Profile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371600" y="33832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Valuation Base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Evaluation Base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6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centers on a major capital asset required for long-term operations.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66928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Acquisition Cost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49040" y="25146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$450,000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81528"/>
            <a:ext cx="5669280" cy="566928"/>
          </a:xfrm>
          <a:prstGeom prst="rect">
            <a:avLst/>
          </a:prstGeom>
          <a:solidFill>
            <a:srgbClr val="EFF3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308152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Setup Costs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49040" y="30815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$50,000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648456"/>
            <a:ext cx="5669280" cy="5669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364845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Asset Price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364845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$500,000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215384"/>
            <a:ext cx="5669280" cy="566928"/>
          </a:xfrm>
          <a:prstGeom prst="rect">
            <a:avLst/>
          </a:prstGeom>
          <a:solidFill>
            <a:srgbClr val="EFF3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31520" y="421538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Useful Life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49040" y="421538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Years</a:t>
            </a:r>
            <a:endParaRPr lang="en-US" sz="14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2606040"/>
            <a:ext cx="640080" cy="6400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132320" y="3749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Capital Equipment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200400" cy="3200400"/>
          </a:xfrm>
          <a:prstGeom prst="ellipse">
            <a:avLst/>
          </a:prstGeom>
          <a:solidFill>
            <a:srgbClr val="E4E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01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371600" y="33832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6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Line Method (SLM)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SLM Annual Expense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$45k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ANNUM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35040" y="1234440"/>
            <a:ext cx="5577840" cy="4023360"/>
          </a:xfrm>
          <a:prstGeom prst="roundRect">
            <a:avLst>
              <a:gd name="adj" fmla="val 1364"/>
            </a:avLst>
          </a:prstGeom>
          <a:solidFill>
            <a:srgbClr val="F7F9FD"/>
          </a:solidFill>
          <a:ln/>
          <a:effectLst>
            <a:outerShdw blurRad="152400" dist="381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355080" y="1463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6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Basis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55080" y="19202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depreciable amount is spread evenly over the 10-year lifespan.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2560320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E0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355080" y="256032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B21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 = (C - S) / L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410712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67512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Depreciation: </a:t>
            </a:r>
            <a:r>
              <a:rPr lang="en-US" sz="13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$450,000</a:t>
            </a:r>
            <a:endParaRPr lang="en-US" sz="13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867912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Depreciation Rate: </a:t>
            </a:r>
            <a:r>
              <a:rPr lang="en-US" sz="13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9.00%</a:t>
            </a:r>
            <a:endParaRPr lang="en-US" sz="13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4325112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7512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Value: </a:t>
            </a:r>
            <a:r>
              <a:rPr lang="en-US" sz="13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$50,000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371600"/>
            <a:ext cx="3200400" cy="3200400"/>
          </a:xfrm>
          <a:prstGeom prst="ellipse">
            <a:avLst/>
          </a:prstGeom>
          <a:solidFill>
            <a:srgbClr val="E4E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02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371600" y="33832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6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Diminishing Balance Method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Accelerated Rate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reach a residual value of $50,000 over 10 years, the diminishing rate is significantly higher than SLM.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7F9FD"/>
          </a:solidFill>
          <a:ln w="12700">
            <a:solidFill>
              <a:srgbClr val="D8E0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= 20.57%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64992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expense in Year 1 ($102,836)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67912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expense in Year 10 ($12,946)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70832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tax benefits in early phases.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400800" y="1188720"/>
            <a:ext cx="5212080" cy="4114800"/>
          </a:xfrm>
          <a:prstGeom prst="roundRect">
            <a:avLst>
              <a:gd name="adj" fmla="val 1333"/>
            </a:avLst>
          </a:prstGeom>
          <a:solidFill>
            <a:srgbClr val="F7F9FD"/>
          </a:solidFill>
          <a:ln/>
          <a:effectLst>
            <a:outerShdw blurRad="152400" dist="381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8"/>
          <p:cNvSpPr/>
          <p:nvPr/>
        </p:nvSpPr>
        <p:spPr>
          <a:xfrm>
            <a:off x="6675120" y="1371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6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Depreciation Decay (DB Method)</a:t>
            </a:r>
            <a:endParaRPr lang="en-US" sz="13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6537960" y="1783080"/>
          <a:ext cx="49377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Diminishing Schedule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3520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 Depreciation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Value (Ending)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$102,835.88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$397,164.12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$81,685.45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$315,478.67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$64,885.06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$250,593.62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$51,540.03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$199,053.59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$40,939.70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$158,113.88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D6B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D6B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$12,946.27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D6B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$50,000.00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*Showing representative years. Balance reaches scrap value exactly at Year 10.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5394960"/>
            <a:ext cx="3200400" cy="3200400"/>
          </a:xfrm>
          <a:prstGeom prst="ellipse">
            <a:avLst/>
          </a:prstGeom>
          <a:solidFill>
            <a:srgbClr val="E4E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Analysis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371600" y="33832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Side-by-Side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vs Late Expense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6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Depreciation Amount Comparison (Year 1 vs Year 10)</a:t>
            </a:r>
            <a:endParaRPr lang="en-US" sz="1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110642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Diminishing Balance method front-loads 2.3x more expense in Year 1.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Value Trajectory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273875650"/>
              </p:ext>
            </p:extLst>
          </p:nvPr>
        </p:nvGraphicFramePr>
        <p:xfrm>
          <a:off x="548640" y="1188720"/>
          <a:ext cx="57607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583680" y="1188720"/>
            <a:ext cx="5029200" cy="1106424"/>
          </a:xfrm>
          <a:prstGeom prst="roundRect">
            <a:avLst>
              <a:gd name="adj" fmla="val 4959"/>
            </a:avLst>
          </a:prstGeom>
          <a:solidFill>
            <a:srgbClr val="EFF3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812280" y="1280160"/>
            <a:ext cx="45720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 Milestone: </a:t>
            </a:r>
            <a:r>
              <a:rPr lang="en-US" sz="12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Book Value is $199,053, while SLM would be significantly higher at $320,000.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583680" y="2404872"/>
            <a:ext cx="5029200" cy="1106424"/>
          </a:xfrm>
          <a:prstGeom prst="roundRect">
            <a:avLst>
              <a:gd name="adj" fmla="val 4959"/>
            </a:avLst>
          </a:prstGeom>
          <a:solidFill>
            <a:srgbClr val="E9F1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812280" y="2496312"/>
            <a:ext cx="45720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Convergence: </a:t>
            </a:r>
            <a:r>
              <a:rPr lang="en-US" sz="12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methods effectively converge at the residual value of $50,000 at Year 10.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0" y="3621024"/>
            <a:ext cx="5029200" cy="1106424"/>
          </a:xfrm>
          <a:prstGeom prst="roundRect">
            <a:avLst>
              <a:gd name="adj" fmla="val 4959"/>
            </a:avLst>
          </a:prstGeom>
          <a:solidFill>
            <a:srgbClr val="FFF3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812280" y="3712464"/>
            <a:ext cx="45720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Driver: </a:t>
            </a:r>
            <a:r>
              <a:rPr lang="en-US" sz="12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SLM for stability; choose DB for tax benefits and early asset productivity matching.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Analysis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29000" cy="3474720"/>
          </a:xfrm>
          <a:prstGeom prst="roundRect">
            <a:avLst>
              <a:gd name="adj" fmla="val 2133"/>
            </a:avLst>
          </a:prstGeom>
          <a:solidFill>
            <a:srgbClr val="F7F9FD"/>
          </a:solidFill>
          <a:ln/>
          <a:effectLst>
            <a:outerShdw blurRad="152400" dist="381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51660" y="19202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540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926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D6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Depr.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8680" y="347472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at $450,000 for both methods over the 10-year term.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43400" y="1463040"/>
            <a:ext cx="3429000" cy="3474720"/>
          </a:xfrm>
          <a:prstGeom prst="roundRect">
            <a:avLst>
              <a:gd name="adj" fmla="val 2133"/>
            </a:avLst>
          </a:prstGeom>
          <a:solidFill>
            <a:srgbClr val="F7F9FD"/>
          </a:solidFill>
          <a:ln/>
          <a:effectLst>
            <a:outerShdw blurRad="152400" dist="381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646420" y="19202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21031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2926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D6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Aggressiveness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4663440" y="347472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Method is more aggressive, depreciating over 20% of value annually.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38160" y="1463040"/>
            <a:ext cx="3429000" cy="3474720"/>
          </a:xfrm>
          <a:prstGeom prst="roundRect">
            <a:avLst>
              <a:gd name="adj" fmla="val 2133"/>
            </a:avLst>
          </a:prstGeom>
          <a:solidFill>
            <a:srgbClr val="F7F9FD"/>
          </a:solidFill>
          <a:ln/>
          <a:effectLst>
            <a:outerShdw blurRad="152400" dist="381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9441180" y="19202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4060" y="21031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21040" y="2926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D6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8458200" y="347472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maintain 0.00 balance amount error at Year 10.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D4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23560" y="2331720"/>
            <a:ext cx="914400" cy="45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828800" y="2697480"/>
            <a:ext cx="8503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both methods result in identical total costs, the Diminishing Balance approach offers </a:t>
            </a:r>
            <a:r>
              <a:rPr lang="en-US" sz="19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tax deferral advantages</a:t>
            </a: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initial years of asset operation.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5120640"/>
            <a:ext cx="3657600" cy="3657600"/>
          </a:xfrm>
          <a:prstGeom prst="ellipse">
            <a:avLst/>
          </a:prstGeom>
          <a:solidFill>
            <a:srgbClr val="2B35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578</Words>
  <Application>Microsoft Office PowerPoint</Application>
  <PresentationFormat>Widescreen</PresentationFormat>
  <Paragraphs>108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Depreciation Analysis Report</dc:title>
  <dc:subject>PptxGenJS Presentation</dc:subject>
  <dc:creator>Coachx.live</dc:creator>
  <cp:lastModifiedBy>Sumit Prajapati</cp:lastModifiedBy>
  <cp:revision>2</cp:revision>
  <dcterms:created xsi:type="dcterms:W3CDTF">2026-07-07T11:45:16Z</dcterms:created>
  <dcterms:modified xsi:type="dcterms:W3CDTF">2026-07-07T11:53:15Z</dcterms:modified>
</cp:coreProperties>
</file>